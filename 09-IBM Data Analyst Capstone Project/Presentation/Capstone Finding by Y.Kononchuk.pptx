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1"/>
  </p:notesMasterIdLst>
  <p:sldIdLst>
    <p:sldId id="256" r:id="rId5"/>
    <p:sldId id="257" r:id="rId6"/>
    <p:sldId id="258" r:id="rId7"/>
    <p:sldId id="259" r:id="rId8"/>
    <p:sldId id="260" r:id="rId9"/>
    <p:sldId id="276" r:id="rId10"/>
    <p:sldId id="262" r:id="rId11"/>
    <p:sldId id="263" r:id="rId12"/>
    <p:sldId id="264" r:id="rId13"/>
    <p:sldId id="265" r:id="rId14"/>
    <p:sldId id="267" r:id="rId15"/>
    <p:sldId id="268" r:id="rId16"/>
    <p:sldId id="269" r:id="rId17"/>
    <p:sldId id="270" r:id="rId18"/>
    <p:sldId id="277" r:id="rId19"/>
    <p:sldId id="272" r:id="rId20"/>
  </p:sldIdLst>
  <p:sldSz cx="12192000" cy="6858000"/>
  <p:notesSz cx="6858000" cy="1857375"/>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930C"/>
    <a:srgbClr val="D02670"/>
    <a:srgbClr val="0072C3"/>
    <a:srgbClr val="007D79"/>
    <a:srgbClr val="231F20"/>
    <a:srgbClr val="33B1FF"/>
    <a:srgbClr val="262626"/>
    <a:srgbClr val="525252"/>
    <a:srgbClr val="BE95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480" autoAdjust="0"/>
  </p:normalViewPr>
  <p:slideViewPr>
    <p:cSldViewPr snapToGrid="0">
      <p:cViewPr varScale="1">
        <p:scale>
          <a:sx n="63" d="100"/>
          <a:sy n="63" d="100"/>
        </p:scale>
        <p:origin x="744" y="72"/>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6/23/2025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EBDA0E2-FEBD-4B65-8F16-724CF984F377}" type="slidenum">
              <a:rPr lang="en-US" smtClean="0"/>
              <a:t>3</a:t>
            </a:fld>
            <a:endParaRPr lang="en-US"/>
          </a:p>
        </p:txBody>
      </p:sp>
    </p:spTree>
    <p:extLst>
      <p:ext uri="{BB962C8B-B14F-4D97-AF65-F5344CB8AC3E}">
        <p14:creationId xmlns:p14="http://schemas.microsoft.com/office/powerpoint/2010/main" val="212665677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xmlns=""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4.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xmlns=""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xmlns=""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548640" y="1508760"/>
            <a:ext cx="5471160" cy="1917700"/>
          </a:xfrm>
          <a:noFill/>
          <a:ln>
            <a:noFill/>
          </a:ln>
        </p:spPr>
        <p:txBody>
          <a:bodyPr/>
          <a:lstStyle/>
          <a:p>
            <a:r>
              <a:rPr lang="en-US" dirty="0">
                <a:ln w="0">
                  <a:solidFill>
                    <a:srgbClr val="EE930C"/>
                  </a:solidFill>
                </a:ln>
                <a:solidFill>
                  <a:srgbClr val="EE930C"/>
                </a:solidFill>
                <a:effectLst>
                  <a:outerShdw blurRad="38100" dist="25400" dir="5400000" algn="ctr" rotWithShape="0">
                    <a:srgbClr val="6E747A">
                      <a:alpha val="43000"/>
                    </a:srgbClr>
                  </a:outerShdw>
                </a:effectLst>
              </a:rPr>
              <a:t>Data Analyst Capstone Project</a:t>
            </a:r>
            <a:endParaRPr lang="en-US" dirty="0">
              <a:ln w="0">
                <a:solidFill>
                  <a:srgbClr val="EE930C"/>
                </a:solidFill>
              </a:ln>
              <a:solidFill>
                <a:srgbClr val="EE930C"/>
              </a:solidFill>
              <a:effectLst>
                <a:outerShdw blurRad="38100" dist="25400" dir="5400000" algn="ctr" rotWithShape="0">
                  <a:srgbClr val="6E747A">
                    <a:alpha val="43000"/>
                  </a:srgbClr>
                </a:outerShdw>
              </a:effectLst>
            </a:endParaRPr>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1142999" y="3703321"/>
            <a:ext cx="8717281" cy="1231899"/>
          </a:xfrm>
          <a:noFill/>
        </p:spPr>
        <p:txBody>
          <a:bodyPr>
            <a:normAutofit fontScale="92500" lnSpcReduction="10000"/>
          </a:bodyPr>
          <a:lstStyle/>
          <a:p>
            <a:pPr marL="12700" marR="4399280" algn="r">
              <a:lnSpc>
                <a:spcPct val="138800"/>
              </a:lnSpc>
              <a:spcBef>
                <a:spcPts val="3204"/>
              </a:spcBef>
            </a:pPr>
            <a:r>
              <a:rPr lang="en-US" sz="2600" i="1" dirty="0">
                <a:solidFill>
                  <a:srgbClr val="222222"/>
                </a:solidFill>
                <a:latin typeface="Calibri"/>
                <a:cs typeface="Calibri"/>
              </a:rPr>
              <a:t>by</a:t>
            </a:r>
            <a:r>
              <a:rPr lang="en-US" sz="2600" i="1" spc="-65" dirty="0">
                <a:solidFill>
                  <a:srgbClr val="222222"/>
                </a:solidFill>
                <a:latin typeface="Calibri"/>
                <a:cs typeface="Calibri"/>
              </a:rPr>
              <a:t> </a:t>
            </a:r>
            <a:r>
              <a:rPr lang="en-US" sz="2600" i="1" spc="-10" dirty="0" err="1">
                <a:solidFill>
                  <a:srgbClr val="222222"/>
                </a:solidFill>
                <a:latin typeface="Calibri"/>
                <a:cs typeface="Calibri"/>
              </a:rPr>
              <a:t>Yuliia</a:t>
            </a:r>
            <a:r>
              <a:rPr lang="en-US" sz="2600" i="1" spc="-65" dirty="0">
                <a:solidFill>
                  <a:srgbClr val="222222"/>
                </a:solidFill>
                <a:latin typeface="Calibri"/>
                <a:cs typeface="Calibri"/>
              </a:rPr>
              <a:t> </a:t>
            </a:r>
            <a:r>
              <a:rPr lang="en-US" sz="2600" i="1" spc="-10" dirty="0" err="1">
                <a:solidFill>
                  <a:srgbClr val="222222"/>
                </a:solidFill>
                <a:latin typeface="Calibri"/>
                <a:cs typeface="Calibri"/>
              </a:rPr>
              <a:t>Kononchuk</a:t>
            </a:r>
            <a:r>
              <a:rPr lang="en-US" sz="2600" i="1" spc="-10" dirty="0">
                <a:solidFill>
                  <a:srgbClr val="222222"/>
                </a:solidFill>
                <a:latin typeface="Calibri"/>
                <a:cs typeface="Calibri"/>
              </a:rPr>
              <a:t> </a:t>
            </a:r>
            <a:endParaRPr lang="en-US" sz="2600" i="1" spc="-10" dirty="0" smtClean="0">
              <a:solidFill>
                <a:srgbClr val="222222"/>
              </a:solidFill>
              <a:latin typeface="Calibri"/>
              <a:cs typeface="Calibri"/>
            </a:endParaRPr>
          </a:p>
          <a:p>
            <a:pPr marL="12700" marR="4399280" algn="r">
              <a:lnSpc>
                <a:spcPct val="100000"/>
              </a:lnSpc>
              <a:spcBef>
                <a:spcPts val="3204"/>
              </a:spcBef>
            </a:pPr>
            <a:r>
              <a:rPr lang="en-US" sz="1900" i="1" dirty="0" smtClean="0">
                <a:solidFill>
                  <a:srgbClr val="222222"/>
                </a:solidFill>
                <a:latin typeface="Calibri"/>
                <a:cs typeface="Calibri"/>
              </a:rPr>
              <a:t>March</a:t>
            </a:r>
            <a:r>
              <a:rPr lang="en-US" sz="1900" i="1" spc="-150" dirty="0" smtClean="0">
                <a:solidFill>
                  <a:srgbClr val="222222"/>
                </a:solidFill>
                <a:latin typeface="Calibri"/>
                <a:cs typeface="Calibri"/>
              </a:rPr>
              <a:t> </a:t>
            </a:r>
            <a:r>
              <a:rPr lang="en-US" sz="1900" i="1" spc="-20" dirty="0">
                <a:solidFill>
                  <a:srgbClr val="222222"/>
                </a:solidFill>
                <a:latin typeface="Calibri"/>
                <a:cs typeface="Calibri"/>
              </a:rPr>
              <a:t>2025</a:t>
            </a:r>
            <a:endParaRPr lang="en-US" sz="1900" dirty="0">
              <a:latin typeface="Calibri"/>
              <a:cs typeface="Calibri"/>
            </a:endParaRPr>
          </a:p>
        </p:txBody>
      </p:sp>
      <p:pic>
        <p:nvPicPr>
          <p:cNvPr id="5" name="Рисунок 4"/>
          <p:cNvPicPr>
            <a:picLocks noChangeAspect="1"/>
          </p:cNvPicPr>
          <p:nvPr/>
        </p:nvPicPr>
        <p:blipFill>
          <a:blip r:embed="rId3"/>
          <a:stretch>
            <a:fillRect/>
          </a:stretch>
        </p:blipFill>
        <p:spPr>
          <a:xfrm>
            <a:off x="5519990" y="821690"/>
            <a:ext cx="6672010" cy="3291840"/>
          </a:xfrm>
          <a:prstGeom prst="rect">
            <a:avLst/>
          </a:prstGeom>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Calibri" panose="020F0502020204030204" pitchFamily="34" charset="0"/>
              </a:rPr>
              <a:t>Executive Summary</a:t>
            </a:r>
          </a:p>
          <a:p>
            <a:r>
              <a:rPr lang="en-US" sz="2200" dirty="0">
                <a:latin typeface="Calibri" panose="020F0502020204030204" pitchFamily="34" charset="0"/>
              </a:rPr>
              <a:t>Introduction</a:t>
            </a:r>
          </a:p>
          <a:p>
            <a:r>
              <a:rPr lang="en-US" sz="2200" dirty="0">
                <a:latin typeface="Calibri" panose="020F0502020204030204" pitchFamily="34" charset="0"/>
              </a:rPr>
              <a:t>Methodology</a:t>
            </a:r>
          </a:p>
          <a:p>
            <a:r>
              <a:rPr lang="en-US" sz="2200" dirty="0">
                <a:latin typeface="Calibri" panose="020F0502020204030204" pitchFamily="34" charset="0"/>
              </a:rPr>
              <a:t>Results</a:t>
            </a:r>
          </a:p>
          <a:p>
            <a:pPr lvl="1"/>
            <a:r>
              <a:rPr lang="en-US" sz="1800" dirty="0">
                <a:latin typeface="Calibri" panose="020F0502020204030204" pitchFamily="34" charset="0"/>
              </a:rPr>
              <a:t>Visualization – Charts</a:t>
            </a:r>
          </a:p>
          <a:p>
            <a:r>
              <a:rPr lang="en-US" sz="2200" dirty="0" smtClean="0">
                <a:latin typeface="Calibri" panose="020F0502020204030204" pitchFamily="34" charset="0"/>
              </a:rPr>
              <a:t>Discussion</a:t>
            </a:r>
            <a:endParaRPr lang="en-US" sz="2200" dirty="0">
              <a:latin typeface="Calibri" panose="020F0502020204030204" pitchFamily="34" charset="0"/>
            </a:endParaRPr>
          </a:p>
          <a:p>
            <a:pPr lvl="1"/>
            <a:r>
              <a:rPr lang="en-US" sz="1800" dirty="0">
                <a:latin typeface="Calibri" panose="020F0502020204030204" pitchFamily="34" charset="0"/>
              </a:rPr>
              <a:t>Findings &amp; Implications</a:t>
            </a:r>
          </a:p>
          <a:p>
            <a:r>
              <a:rPr lang="en-US" sz="2200" dirty="0">
                <a:latin typeface="Calibri" panose="020F0502020204030204" pitchFamily="34" charset="0"/>
              </a:rPr>
              <a:t>Conclusion</a:t>
            </a:r>
          </a:p>
          <a:p>
            <a:r>
              <a:rPr lang="en-US" sz="2200" dirty="0">
                <a:latin typeface="Calibri" panose="020F0502020204030204" pitchFamily="34" charset="0"/>
              </a:rPr>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285075" y="1825624"/>
            <a:ext cx="7068725" cy="44654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12064" marR="5715" algn="just">
              <a:lnSpc>
                <a:spcPct val="89500"/>
              </a:lnSpc>
              <a:spcBef>
                <a:spcPts val="380"/>
              </a:spcBef>
              <a:buClr>
                <a:srgbClr val="863902"/>
              </a:buClr>
              <a:tabLst>
                <a:tab pos="240029" algn="l"/>
              </a:tabLst>
            </a:pPr>
            <a:r>
              <a:rPr lang="en-US" sz="2000" dirty="0">
                <a:solidFill>
                  <a:schemeClr val="tx1"/>
                </a:solidFill>
                <a:latin typeface="Calibri"/>
                <a:cs typeface="Calibri"/>
              </a:rPr>
              <a:t>The aim of this presentation is to summarize future skills requirements and trends in the IT sector to help the company to keep pace with changing technologies and make more informed   hiring   and   developing   decisions,   remain competitive in the fast-evolving industry.</a:t>
            </a:r>
          </a:p>
          <a:p>
            <a:pPr marL="12064" marR="5080" algn="just">
              <a:lnSpc>
                <a:spcPts val="2400"/>
              </a:lnSpc>
              <a:spcBef>
                <a:spcPts val="1040"/>
              </a:spcBef>
              <a:tabLst>
                <a:tab pos="240029" algn="l"/>
              </a:tabLst>
            </a:pPr>
            <a:r>
              <a:rPr lang="en-US" sz="2000" dirty="0">
                <a:solidFill>
                  <a:schemeClr val="tx1"/>
                </a:solidFill>
                <a:latin typeface="Calibri"/>
                <a:cs typeface="Calibri"/>
              </a:rPr>
              <a:t>This analysis is based on data from various sources including: job postings, blog posts and surveys. Collected data were prepared for analysis by using data wrangling methods, then statistical techniques were applied to identify insights and trends:</a:t>
            </a:r>
          </a:p>
          <a:p>
            <a:pPr marL="697230" lvl="1" indent="-227329" algn="just">
              <a:lnSpc>
                <a:spcPct val="100000"/>
              </a:lnSpc>
              <a:spcBef>
                <a:spcPts val="285"/>
              </a:spcBef>
              <a:buFont typeface="Wingdings"/>
              <a:buChar char=""/>
              <a:tabLst>
                <a:tab pos="697230" algn="l"/>
              </a:tabLst>
            </a:pPr>
            <a:r>
              <a:rPr lang="en-US" sz="2000" dirty="0">
                <a:solidFill>
                  <a:schemeClr val="tx1"/>
                </a:solidFill>
                <a:latin typeface="Calibri"/>
                <a:cs typeface="Calibri"/>
              </a:rPr>
              <a:t>Top programming languages, database skills, platforms in demand</a:t>
            </a:r>
          </a:p>
          <a:p>
            <a:pPr marL="697230" lvl="1" indent="-227329" algn="just">
              <a:lnSpc>
                <a:spcPct val="100000"/>
              </a:lnSpc>
              <a:spcBef>
                <a:spcPts val="300"/>
              </a:spcBef>
              <a:buFont typeface="Wingdings"/>
              <a:buChar char=""/>
              <a:tabLst>
                <a:tab pos="697230" algn="l"/>
              </a:tabLst>
            </a:pPr>
            <a:r>
              <a:rPr lang="en-US" sz="2000" dirty="0">
                <a:solidFill>
                  <a:schemeClr val="tx1"/>
                </a:solidFill>
                <a:latin typeface="Calibri"/>
                <a:cs typeface="Calibri"/>
              </a:rPr>
              <a:t>Trends for languages, databases, platforms for the next year</a:t>
            </a:r>
          </a:p>
          <a:p>
            <a:pPr marL="697865" marR="7620" lvl="1" algn="just">
              <a:lnSpc>
                <a:spcPct val="87900"/>
              </a:lnSpc>
              <a:spcBef>
                <a:spcPts val="505"/>
              </a:spcBef>
              <a:buFont typeface="Wingdings"/>
              <a:buChar char=""/>
              <a:tabLst>
                <a:tab pos="697865" algn="l"/>
              </a:tabLst>
            </a:pPr>
            <a:r>
              <a:rPr lang="en-US" sz="2000" dirty="0">
                <a:solidFill>
                  <a:schemeClr val="tx1"/>
                </a:solidFill>
                <a:latin typeface="Calibri"/>
                <a:cs typeface="Calibri"/>
              </a:rPr>
              <a:t>Demographic data like gender and age distribution of developers, education, level of compensation, their median values, distribution and comparison.</a:t>
            </a:r>
            <a:endParaRPr lang="en-US" sz="2000" dirty="0">
              <a:solidFill>
                <a:schemeClr val="tx1"/>
              </a:solidFill>
              <a:latin typeface="Calibri"/>
              <a:cs typeface="Calibri"/>
            </a:endParaRP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4"/>
          <a:stretch>
            <a:fillRect/>
          </a:stretch>
        </p:blipFill>
        <p:spPr>
          <a:xfrm>
            <a:off x="1090494" y="2302762"/>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1341188" y="2340863"/>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5013434" y="1825625"/>
            <a:ext cx="6340366" cy="435133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buFont typeface="Arial" panose="020B0604020202020204" pitchFamily="34" charset="0"/>
              <a:buChar char="•"/>
            </a:pPr>
            <a:r>
              <a:rPr lang="en-US" sz="2400" dirty="0">
                <a:solidFill>
                  <a:schemeClr val="tx1"/>
                </a:solidFill>
                <a:latin typeface="Calibri" panose="020F0502020204030204" pitchFamily="34" charset="0"/>
              </a:rPr>
              <a:t>This presentation is a result of collecting and analyzing data from various  sources,  such  as  job  postings  on  </a:t>
            </a:r>
            <a:r>
              <a:rPr lang="en-US" sz="2400" dirty="0" err="1">
                <a:solidFill>
                  <a:schemeClr val="tx1"/>
                </a:solidFill>
                <a:latin typeface="Calibri" panose="020F0502020204030204" pitchFamily="34" charset="0"/>
              </a:rPr>
              <a:t>Naukri</a:t>
            </a:r>
            <a:r>
              <a:rPr lang="en-US" sz="2400" dirty="0">
                <a:solidFill>
                  <a:schemeClr val="tx1"/>
                </a:solidFill>
                <a:latin typeface="Calibri" panose="020F0502020204030204" pitchFamily="34" charset="0"/>
              </a:rPr>
              <a:t>,  IBM  training’s dataset,  survey  about  popular  languages  and  salaries  in  the industry. The most significant amount of data came from the Stack Overflow’s annual Developer Survey 2019.</a:t>
            </a:r>
          </a:p>
          <a:p>
            <a:pPr lvl="0">
              <a:buFont typeface="Arial" panose="020B0604020202020204" pitchFamily="34" charset="0"/>
              <a:buChar char="•"/>
            </a:pPr>
            <a:endParaRPr lang="ru-RU" sz="2400" dirty="0">
              <a:solidFill>
                <a:schemeClr val="tx1"/>
              </a:solidFill>
              <a:latin typeface="Calibri" panose="020F0502020204030204" pitchFamily="34" charset="0"/>
            </a:endParaRPr>
          </a:p>
          <a:p>
            <a:pPr lvl="0">
              <a:buFont typeface="Arial" panose="020B0604020202020204" pitchFamily="34" charset="0"/>
              <a:buChar char="•"/>
            </a:pPr>
            <a:r>
              <a:rPr lang="en-US" sz="2400" dirty="0">
                <a:solidFill>
                  <a:schemeClr val="tx1"/>
                </a:solidFill>
                <a:latin typeface="Calibri" panose="020F0502020204030204" pitchFamily="34" charset="0"/>
              </a:rPr>
              <a:t>The  actual  data  set  of  the  survey  has  around  90,000 responses.  In  this  analysis  a  subset,  that  contains  around 1/10th of the original data set (N = 11 398), was examined.</a:t>
            </a:r>
          </a:p>
          <a:p>
            <a:pPr lvl="0">
              <a:buFont typeface="Arial" panose="020B0604020202020204" pitchFamily="34" charset="0"/>
              <a:buChar char="•"/>
            </a:pPr>
            <a:endParaRPr lang="ru-RU" sz="2400" dirty="0">
              <a:solidFill>
                <a:schemeClr val="tx1"/>
              </a:solidFill>
              <a:latin typeface="Calibri" panose="020F0502020204030204" pitchFamily="34" charset="0"/>
            </a:endParaRPr>
          </a:p>
          <a:p>
            <a:pPr lvl="0">
              <a:buFont typeface="Arial" panose="020B0604020202020204" pitchFamily="34" charset="0"/>
              <a:buChar char="•"/>
            </a:pPr>
            <a:r>
              <a:rPr lang="en-US" sz="2400" dirty="0">
                <a:solidFill>
                  <a:schemeClr val="tx1"/>
                </a:solidFill>
                <a:latin typeface="Calibri" panose="020F0502020204030204" pitchFamily="34" charset="0"/>
              </a:rPr>
              <a:t>This   report   is   relevant   for   educators,   students, developers,  recruiters,  HR  specialists  to  understand  the trends and skills requirement in the IT industry.</a:t>
            </a:r>
            <a:endParaRPr lang="ru-RU" sz="2400" dirty="0">
              <a:solidFill>
                <a:schemeClr val="tx1"/>
              </a:solidFill>
              <a:latin typeface="Calibri" panose="020F0502020204030204" pitchFamily="34" charset="0"/>
            </a:endParaRP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5265683" y="1825625"/>
            <a:ext cx="60881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solidFill>
                  <a:schemeClr val="tx1"/>
                </a:solidFill>
                <a:latin typeface="Calibri" panose="020F0502020204030204" pitchFamily="34" charset="0"/>
              </a:rPr>
              <a:t>•  Data Sources:</a:t>
            </a:r>
          </a:p>
          <a:p>
            <a:pPr lvl="1">
              <a:buFontTx/>
              <a:buChar char="-"/>
            </a:pPr>
            <a:r>
              <a:rPr lang="en-US" sz="2000" dirty="0">
                <a:solidFill>
                  <a:schemeClr val="tx1"/>
                </a:solidFill>
                <a:latin typeface="Calibri" panose="020F0502020204030204" pitchFamily="34" charset="0"/>
              </a:rPr>
              <a:t>Stack Overflow Survey 2019 </a:t>
            </a:r>
          </a:p>
          <a:p>
            <a:pPr lvl="1">
              <a:buFontTx/>
              <a:buChar char="-"/>
            </a:pPr>
            <a:r>
              <a:rPr lang="en-US" sz="2000" dirty="0" err="1">
                <a:solidFill>
                  <a:schemeClr val="tx1"/>
                </a:solidFill>
                <a:latin typeface="Calibri" panose="020F0502020204030204" pitchFamily="34" charset="0"/>
              </a:rPr>
              <a:t>Github</a:t>
            </a:r>
            <a:r>
              <a:rPr lang="en-US" sz="2000" dirty="0">
                <a:solidFill>
                  <a:schemeClr val="tx1"/>
                </a:solidFill>
                <a:latin typeface="Calibri" panose="020F0502020204030204" pitchFamily="34" charset="0"/>
              </a:rPr>
              <a:t> Job Posting  </a:t>
            </a:r>
          </a:p>
          <a:p>
            <a:pPr lvl="1">
              <a:buFontTx/>
              <a:buChar char="-"/>
            </a:pPr>
            <a:r>
              <a:rPr lang="en-US" sz="2000" dirty="0">
                <a:solidFill>
                  <a:schemeClr val="tx1"/>
                </a:solidFill>
                <a:latin typeface="Calibri" panose="020F0502020204030204" pitchFamily="34" charset="0"/>
              </a:rPr>
              <a:t>Programming Language Annual Salary</a:t>
            </a:r>
            <a:endParaRPr lang="en-US" dirty="0">
              <a:solidFill>
                <a:schemeClr val="tx1"/>
              </a:solidFill>
              <a:latin typeface="Calibri" panose="020F0502020204030204" pitchFamily="34" charset="0"/>
            </a:endParaRPr>
          </a:p>
          <a:p>
            <a:pPr marL="0" indent="0">
              <a:buNone/>
            </a:pPr>
            <a:r>
              <a:rPr lang="en-US" sz="2400" dirty="0">
                <a:solidFill>
                  <a:schemeClr val="tx1"/>
                </a:solidFill>
                <a:latin typeface="Calibri" panose="020F0502020204030204" pitchFamily="34" charset="0"/>
              </a:rPr>
              <a:t>•  Data Exploration and Cleaning</a:t>
            </a:r>
          </a:p>
          <a:p>
            <a:pPr marL="0" indent="0">
              <a:buNone/>
            </a:pPr>
            <a:r>
              <a:rPr lang="en-US" sz="2400" dirty="0">
                <a:solidFill>
                  <a:schemeClr val="tx1"/>
                </a:solidFill>
                <a:latin typeface="Calibri" panose="020F0502020204030204" pitchFamily="34" charset="0"/>
              </a:rPr>
              <a:t>       - </a:t>
            </a:r>
            <a:r>
              <a:rPr lang="en-US" sz="2000" dirty="0">
                <a:solidFill>
                  <a:schemeClr val="tx1"/>
                </a:solidFill>
                <a:latin typeface="Calibri" panose="020F0502020204030204" pitchFamily="34" charset="0"/>
              </a:rPr>
              <a:t>Python </a:t>
            </a:r>
          </a:p>
          <a:p>
            <a:pPr marL="0" indent="0">
              <a:buNone/>
            </a:pPr>
            <a:r>
              <a:rPr lang="en-US" sz="2400" dirty="0">
                <a:solidFill>
                  <a:schemeClr val="tx1"/>
                </a:solidFill>
                <a:latin typeface="Calibri" panose="020F0502020204030204" pitchFamily="34" charset="0"/>
              </a:rPr>
              <a:t>•  Data Visualization</a:t>
            </a:r>
          </a:p>
          <a:p>
            <a:pPr marL="0" indent="0">
              <a:buNone/>
            </a:pPr>
            <a:r>
              <a:rPr lang="en-US" sz="2400" dirty="0">
                <a:solidFill>
                  <a:schemeClr val="tx1"/>
                </a:solidFill>
                <a:latin typeface="Calibri" panose="020F0502020204030204" pitchFamily="34" charset="0"/>
              </a:rPr>
              <a:t>       </a:t>
            </a:r>
            <a:r>
              <a:rPr lang="en-US" sz="2000" dirty="0">
                <a:solidFill>
                  <a:schemeClr val="tx1"/>
                </a:solidFill>
                <a:latin typeface="Calibri" panose="020F0502020204030204" pitchFamily="34" charset="0"/>
              </a:rPr>
              <a:t>- IBM </a:t>
            </a:r>
            <a:r>
              <a:rPr lang="en-US" sz="2000" dirty="0" err="1">
                <a:solidFill>
                  <a:schemeClr val="tx1"/>
                </a:solidFill>
                <a:latin typeface="Calibri" panose="020F0502020204030204" pitchFamily="34" charset="0"/>
              </a:rPr>
              <a:t>CognosAnalytics</a:t>
            </a:r>
            <a:endParaRPr lang="en-US" sz="2000" dirty="0">
              <a:solidFill>
                <a:schemeClr val="tx1"/>
              </a:solidFill>
              <a:latin typeface="Calibri" panose="020F0502020204030204" pitchFamily="34" charset="0"/>
            </a:endParaRPr>
          </a:p>
          <a:p>
            <a:pPr marL="0" indent="0">
              <a:buNone/>
            </a:pPr>
            <a:r>
              <a:rPr lang="en-US" sz="2400" dirty="0">
                <a:solidFill>
                  <a:schemeClr val="tx1"/>
                </a:solidFill>
                <a:latin typeface="Calibri" panose="020F0502020204030204" pitchFamily="34" charset="0"/>
              </a:rPr>
              <a:t>•  Presentation</a:t>
            </a:r>
            <a:endParaRPr lang="en-US" sz="2400" dirty="0">
              <a:solidFill>
                <a:schemeClr val="tx1"/>
              </a:solidFill>
              <a:latin typeface="Calibri" panose="020F0502020204030204" pitchFamily="34" charset="0"/>
            </a:endParaRP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1042717" y="2099723"/>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dirty="0">
                <a:solidFill>
                  <a:schemeClr val="tx1"/>
                </a:solidFill>
              </a:rPr>
              <a:t>RESULTS</a:t>
            </a:r>
            <a:endParaRPr lang="ru-RU" dirty="0">
              <a:solidFill>
                <a:schemeClr val="tx1"/>
              </a:solidFill>
            </a:endParaRPr>
          </a:p>
        </p:txBody>
      </p:sp>
      <p:sp>
        <p:nvSpPr>
          <p:cNvPr id="3" name="Объект 2"/>
          <p:cNvSpPr>
            <a:spLocks noGrp="1"/>
          </p:cNvSpPr>
          <p:nvPr>
            <p:ph idx="1"/>
          </p:nvPr>
        </p:nvSpPr>
        <p:spPr>
          <a:xfrm>
            <a:off x="441434" y="1600198"/>
            <a:ext cx="11508828" cy="4800601"/>
          </a:xfrm>
        </p:spPr>
        <p:txBody>
          <a:bodyPr>
            <a:normAutofit fontScale="47500" lnSpcReduction="20000"/>
          </a:bodyPr>
          <a:lstStyle/>
          <a:p>
            <a:pPr marL="240029" indent="-227329" algn="just">
              <a:lnSpc>
                <a:spcPct val="120000"/>
              </a:lnSpc>
              <a:spcBef>
                <a:spcPts val="95"/>
              </a:spcBef>
              <a:buFont typeface="Arial MT"/>
              <a:buChar char="•"/>
              <a:tabLst>
                <a:tab pos="240029" algn="l"/>
              </a:tabLst>
            </a:pPr>
            <a:r>
              <a:rPr lang="en-US" sz="3000" dirty="0">
                <a:solidFill>
                  <a:schemeClr val="tx1"/>
                </a:solidFill>
                <a:latin typeface="Calibri"/>
                <a:cs typeface="Calibri"/>
              </a:rPr>
              <a:t>Dataset before cleaning rows - 11552, columns – 85, duplicate rows – 154, after removing N= 11398.</a:t>
            </a:r>
          </a:p>
          <a:p>
            <a:pPr marL="240665" marR="175260" algn="just">
              <a:lnSpc>
                <a:spcPct val="120000"/>
              </a:lnSpc>
              <a:spcBef>
                <a:spcPts val="195"/>
              </a:spcBef>
              <a:buFont typeface="Arial MT"/>
              <a:buChar char="•"/>
              <a:tabLst>
                <a:tab pos="241935" algn="l"/>
              </a:tabLst>
            </a:pPr>
            <a:r>
              <a:rPr lang="en-US" sz="3000" dirty="0">
                <a:solidFill>
                  <a:schemeClr val="tx1"/>
                </a:solidFill>
                <a:latin typeface="Calibri"/>
                <a:cs typeface="Calibri"/>
              </a:rPr>
              <a:t>Median age of the respondents – 29 years and 75 % of them are under 35. Min and max ages are 16 and 99 years. The age group </a:t>
            </a:r>
            <a:r>
              <a:rPr lang="en-US" sz="3000" dirty="0" smtClean="0">
                <a:solidFill>
                  <a:schemeClr val="tx1"/>
                </a:solidFill>
                <a:latin typeface="Calibri"/>
                <a:cs typeface="Calibri"/>
              </a:rPr>
              <a:t>of </a:t>
            </a:r>
            <a:r>
              <a:rPr lang="en-US" sz="3000" dirty="0">
                <a:solidFill>
                  <a:schemeClr val="tx1"/>
                </a:solidFill>
                <a:latin typeface="Calibri"/>
                <a:cs typeface="Calibri"/>
              </a:rPr>
              <a:t>24-32 years has the highest number of survey respondents.</a:t>
            </a:r>
          </a:p>
          <a:p>
            <a:pPr marL="240029" indent="-227329" algn="just">
              <a:lnSpc>
                <a:spcPct val="120000"/>
              </a:lnSpc>
              <a:buFont typeface="Arial MT"/>
              <a:buChar char="•"/>
              <a:tabLst>
                <a:tab pos="240029" algn="l"/>
              </a:tabLst>
            </a:pPr>
            <a:r>
              <a:rPr lang="en-US" sz="3000" dirty="0">
                <a:solidFill>
                  <a:schemeClr val="tx1"/>
                </a:solidFill>
                <a:latin typeface="Calibri"/>
                <a:cs typeface="Calibri"/>
              </a:rPr>
              <a:t>Majority of respondents are male 93.5 % vs 6.5% - female.</a:t>
            </a:r>
          </a:p>
          <a:p>
            <a:pPr marL="240029" indent="-227329" algn="just">
              <a:lnSpc>
                <a:spcPct val="120000"/>
              </a:lnSpc>
              <a:buFont typeface="Arial MT"/>
              <a:buChar char="•"/>
              <a:tabLst>
                <a:tab pos="240029" algn="l"/>
              </a:tabLst>
            </a:pPr>
            <a:r>
              <a:rPr lang="en-US" sz="3000" dirty="0">
                <a:solidFill>
                  <a:schemeClr val="tx1"/>
                </a:solidFill>
                <a:latin typeface="Calibri"/>
                <a:cs typeface="Calibri"/>
              </a:rPr>
              <a:t>Educational level – Bachelor's degree - 51.8%, Master’s degree-23.9%.</a:t>
            </a:r>
          </a:p>
          <a:p>
            <a:pPr marL="241300" marR="4625340" indent="-229235" algn="just">
              <a:lnSpc>
                <a:spcPct val="120000"/>
              </a:lnSpc>
              <a:spcBef>
                <a:spcPts val="190"/>
              </a:spcBef>
              <a:buFont typeface="Arial MT"/>
              <a:buChar char="•"/>
              <a:tabLst>
                <a:tab pos="241300" algn="l"/>
              </a:tabLst>
            </a:pPr>
            <a:r>
              <a:rPr lang="en-US" sz="3000" dirty="0">
                <a:solidFill>
                  <a:schemeClr val="tx1"/>
                </a:solidFill>
                <a:latin typeface="Calibri"/>
                <a:cs typeface="Calibri"/>
              </a:rPr>
              <a:t>Of professional developers who studied at the university level, over 60% engineering, or software engineering.</a:t>
            </a:r>
          </a:p>
          <a:p>
            <a:pPr marL="240029" indent="-227329" algn="just">
              <a:lnSpc>
                <a:spcPct val="120000"/>
              </a:lnSpc>
              <a:buFont typeface="Arial MT"/>
              <a:buChar char="•"/>
              <a:tabLst>
                <a:tab pos="240029" algn="l"/>
              </a:tabLst>
            </a:pPr>
            <a:r>
              <a:rPr lang="en-US" sz="3000" dirty="0">
                <a:solidFill>
                  <a:schemeClr val="tx1"/>
                </a:solidFill>
                <a:latin typeface="Calibri"/>
                <a:cs typeface="Calibri"/>
              </a:rPr>
              <a:t>96 % are employed full-time and 4% - are part-time.</a:t>
            </a:r>
          </a:p>
          <a:p>
            <a:pPr marL="241300" marR="5715" indent="-229235" algn="just">
              <a:lnSpc>
                <a:spcPct val="120000"/>
              </a:lnSpc>
              <a:spcBef>
                <a:spcPts val="180"/>
              </a:spcBef>
              <a:buFont typeface="Arial MT"/>
              <a:buChar char="•"/>
              <a:tabLst>
                <a:tab pos="241300" algn="l"/>
              </a:tabLst>
            </a:pPr>
            <a:r>
              <a:rPr lang="en-US" sz="3000" dirty="0">
                <a:solidFill>
                  <a:schemeClr val="tx1"/>
                </a:solidFill>
                <a:latin typeface="Calibri"/>
                <a:cs typeface="Calibri"/>
              </a:rPr>
              <a:t>90 % of the respondents are developers by profession and 10% are not primarily developers, but write code from time to time database  administrators,  data  or  business  analysts,  data  scientists  or  machine  learning  specialists,  designers,  system administrators, engineers (, researchers).</a:t>
            </a:r>
          </a:p>
          <a:p>
            <a:pPr marL="241300" algn="just">
              <a:lnSpc>
                <a:spcPct val="120000"/>
              </a:lnSpc>
              <a:buFont typeface="Arial MT"/>
              <a:buChar char="•"/>
              <a:tabLst>
                <a:tab pos="241300" algn="l"/>
              </a:tabLst>
            </a:pPr>
            <a:r>
              <a:rPr lang="en-US" sz="3000" dirty="0" smtClean="0">
                <a:solidFill>
                  <a:schemeClr val="tx1"/>
                </a:solidFill>
                <a:latin typeface="Calibri"/>
                <a:cs typeface="Calibri"/>
              </a:rPr>
              <a:t>Median </a:t>
            </a:r>
            <a:r>
              <a:rPr lang="en-US" sz="3000" dirty="0">
                <a:solidFill>
                  <a:schemeClr val="tx1"/>
                </a:solidFill>
                <a:latin typeface="Calibri"/>
                <a:cs typeface="Calibri"/>
              </a:rPr>
              <a:t>salary in the industry after removing outliers: $52,704 per year. mean compensation – $34,567.</a:t>
            </a:r>
          </a:p>
          <a:p>
            <a:pPr marL="241300" marR="5080" algn="just">
              <a:lnSpc>
                <a:spcPct val="120000"/>
              </a:lnSpc>
              <a:spcBef>
                <a:spcPts val="190"/>
              </a:spcBef>
              <a:buFont typeface="Arial MT"/>
              <a:buChar char="•"/>
              <a:tabLst>
                <a:tab pos="241300" algn="l"/>
              </a:tabLst>
            </a:pPr>
            <a:r>
              <a:rPr lang="en-US" sz="3000" dirty="0">
                <a:solidFill>
                  <a:schemeClr val="tx1"/>
                </a:solidFill>
                <a:latin typeface="Calibri"/>
                <a:cs typeface="Calibri"/>
              </a:rPr>
              <a:t>Distribution of salaries depending on the coding language (last slide): maximum - Swift (for IOS development), then Python, C++, JavaScript.</a:t>
            </a:r>
          </a:p>
          <a:p>
            <a:pPr marL="241300" algn="just">
              <a:lnSpc>
                <a:spcPct val="120000"/>
              </a:lnSpc>
              <a:buFont typeface="Arial MT"/>
              <a:buChar char="•"/>
              <a:tabLst>
                <a:tab pos="241300" algn="l"/>
              </a:tabLst>
            </a:pPr>
            <a:r>
              <a:rPr lang="en-US" sz="3000" dirty="0">
                <a:solidFill>
                  <a:schemeClr val="tx1"/>
                </a:solidFill>
                <a:latin typeface="Calibri"/>
                <a:cs typeface="Calibri"/>
              </a:rPr>
              <a:t>Job postings demonstrate the demand for specialists, regarding their skills - most wanted are with a qualification in</a:t>
            </a:r>
          </a:p>
          <a:p>
            <a:pPr marL="241300" marR="5715" indent="-229235" algn="just">
              <a:lnSpc>
                <a:spcPct val="120000"/>
              </a:lnSpc>
              <a:spcBef>
                <a:spcPts val="190"/>
              </a:spcBef>
              <a:buFont typeface="Arial MT"/>
              <a:buChar char="•"/>
              <a:tabLst>
                <a:tab pos="241300" algn="l"/>
              </a:tabLst>
            </a:pPr>
            <a:r>
              <a:rPr lang="en-US" sz="3000" dirty="0" smtClean="0">
                <a:solidFill>
                  <a:schemeClr val="tx1"/>
                </a:solidFill>
                <a:latin typeface="Calibri"/>
                <a:cs typeface="Calibri"/>
              </a:rPr>
              <a:t>Converted </a:t>
            </a:r>
            <a:r>
              <a:rPr lang="en-US" sz="3000" dirty="0">
                <a:solidFill>
                  <a:schemeClr val="tx1"/>
                </a:solidFill>
                <a:latin typeface="Calibri"/>
                <a:cs typeface="Calibri"/>
              </a:rPr>
              <a:t>compensation has the biggest correlation with age – which means older (often more qualified, with higher job positions) developers have higher compensations.</a:t>
            </a:r>
          </a:p>
          <a:p>
            <a:endParaRPr lang="ru-RU" dirty="0"/>
          </a:p>
        </p:txBody>
      </p:sp>
    </p:spTree>
    <p:extLst>
      <p:ext uri="{BB962C8B-B14F-4D97-AF65-F5344CB8AC3E}">
        <p14:creationId xmlns:p14="http://schemas.microsoft.com/office/powerpoint/2010/main" val="1999382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1855309" y="1809910"/>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8190187" y="1811472"/>
            <a:ext cx="1758142" cy="501939"/>
          </a:xfrm>
        </p:spPr>
        <p:txBody>
          <a:bodyPr/>
          <a:lstStyle/>
          <a:p>
            <a:pPr marL="0" indent="0">
              <a:buNone/>
            </a:pPr>
            <a:r>
              <a:rPr lang="en-US" dirty="0"/>
              <a:t>Next Year</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pic>
        <p:nvPicPr>
          <p:cNvPr id="12" name="object 5"/>
          <p:cNvPicPr/>
          <p:nvPr/>
        </p:nvPicPr>
        <p:blipFill>
          <a:blip r:embed="rId3" cstate="print"/>
          <a:stretch>
            <a:fillRect/>
          </a:stretch>
        </p:blipFill>
        <p:spPr>
          <a:xfrm>
            <a:off x="451541" y="2401151"/>
            <a:ext cx="5036177" cy="3632453"/>
          </a:xfrm>
          <a:prstGeom prst="rect">
            <a:avLst/>
          </a:prstGeom>
        </p:spPr>
      </p:pic>
      <p:pic>
        <p:nvPicPr>
          <p:cNvPr id="13" name="object 6"/>
          <p:cNvPicPr/>
          <p:nvPr/>
        </p:nvPicPr>
        <p:blipFill>
          <a:blip r:embed="rId4" cstate="print"/>
          <a:stretch>
            <a:fillRect/>
          </a:stretch>
        </p:blipFill>
        <p:spPr>
          <a:xfrm>
            <a:off x="6760923" y="2570686"/>
            <a:ext cx="4616670" cy="3293381"/>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325563"/>
          </a:xfrm>
        </p:spPr>
        <p:txBody>
          <a:bodyPr>
            <a:normAutofit/>
          </a:bodyPr>
          <a:lstStyle/>
          <a:p>
            <a:r>
              <a:rPr lang="en-US" sz="2800"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pPr marL="0" indent="0">
              <a:buNone/>
            </a:pPr>
            <a:r>
              <a:rPr lang="en-US" sz="2400" dirty="0">
                <a:latin typeface="Calibri" panose="020F0502020204030204" pitchFamily="34" charset="0"/>
              </a:rPr>
              <a:t>•  JavaScript - The most demanded programming language.</a:t>
            </a:r>
          </a:p>
          <a:p>
            <a:pPr marL="0" indent="0">
              <a:buNone/>
            </a:pPr>
            <a:r>
              <a:rPr lang="en-US" sz="2400" dirty="0">
                <a:latin typeface="Calibri" panose="020F0502020204030204" pitchFamily="34" charset="0"/>
              </a:rPr>
              <a:t>•  Other- Python, HTML/CSS, and SQL</a:t>
            </a:r>
          </a:p>
          <a:p>
            <a:pPr marL="0" indent="0">
              <a:buNone/>
            </a:pPr>
            <a:r>
              <a:rPr lang="en-US" sz="2400" dirty="0">
                <a:latin typeface="Calibri" panose="020F0502020204030204" pitchFamily="34" charset="0"/>
              </a:rPr>
              <a:t>•  </a:t>
            </a:r>
            <a:r>
              <a:rPr lang="en-US" sz="2400" dirty="0" err="1">
                <a:latin typeface="Calibri" panose="020F0502020204030204" pitchFamily="34" charset="0"/>
              </a:rPr>
              <a:t>TypeScript</a:t>
            </a:r>
            <a:r>
              <a:rPr lang="en-US" sz="2400" dirty="0">
                <a:latin typeface="Calibri" panose="020F0502020204030204" pitchFamily="34" charset="0"/>
              </a:rPr>
              <a:t> more desirable than Bash/Shell/PowerShell.</a:t>
            </a:r>
            <a:endParaRPr lang="en-US" sz="2400" dirty="0">
              <a:latin typeface="Calibri" panose="020F0502020204030204" pitchFamily="34" charset="0"/>
            </a:endParaRP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sz="2400" dirty="0">
                <a:latin typeface="Calibri" panose="020F0502020204030204" pitchFamily="34" charset="0"/>
              </a:rPr>
              <a:t>Python’s increase may </a:t>
            </a:r>
            <a:r>
              <a:rPr lang="en-US" sz="2400" dirty="0" smtClean="0">
                <a:latin typeface="Calibri" panose="020F0502020204030204" pitchFamily="34" charset="0"/>
              </a:rPr>
              <a:t>surpass JavaScript </a:t>
            </a:r>
            <a:r>
              <a:rPr lang="en-US" sz="2400" dirty="0">
                <a:latin typeface="Calibri" panose="020F0502020204030204" pitchFamily="34" charset="0"/>
              </a:rPr>
              <a:t>in the future. </a:t>
            </a:r>
            <a:endParaRPr lang="en-US" sz="2400" dirty="0" smtClean="0">
              <a:latin typeface="Calibri" panose="020F0502020204030204" pitchFamily="34" charset="0"/>
            </a:endParaRPr>
          </a:p>
          <a:p>
            <a:pPr marL="0" indent="0">
              <a:buNone/>
            </a:pPr>
            <a:r>
              <a:rPr lang="en-US" sz="2400" dirty="0" smtClean="0">
                <a:latin typeface="Calibri" panose="020F0502020204030204" pitchFamily="34" charset="0"/>
              </a:rPr>
              <a:t>•  </a:t>
            </a:r>
            <a:r>
              <a:rPr lang="en-US" sz="2400" dirty="0">
                <a:latin typeface="Calibri" panose="020F0502020204030204" pitchFamily="34" charset="0"/>
              </a:rPr>
              <a:t>Consistent demand for HTML/CSS, </a:t>
            </a:r>
            <a:r>
              <a:rPr lang="en-US" sz="2400" dirty="0" smtClean="0">
                <a:latin typeface="Calibri" panose="020F0502020204030204" pitchFamily="34" charset="0"/>
              </a:rPr>
              <a:t>  Java</a:t>
            </a:r>
            <a:r>
              <a:rPr lang="en-US" sz="2400" dirty="0">
                <a:latin typeface="Calibri" panose="020F0502020204030204" pitchFamily="34" charset="0"/>
              </a:rPr>
              <a:t>, SQL, and Python. </a:t>
            </a:r>
            <a:endParaRPr lang="en-US" sz="2400" dirty="0" smtClean="0">
              <a:latin typeface="Calibri" panose="020F0502020204030204" pitchFamily="34" charset="0"/>
            </a:endParaRPr>
          </a:p>
          <a:p>
            <a:pPr marL="0" indent="0">
              <a:buNone/>
            </a:pPr>
            <a:r>
              <a:rPr lang="en-US" sz="2400" dirty="0" smtClean="0">
                <a:latin typeface="Calibri" panose="020F0502020204030204" pitchFamily="34" charset="0"/>
              </a:rPr>
              <a:t>•  </a:t>
            </a:r>
            <a:r>
              <a:rPr lang="en-US" sz="2400" dirty="0">
                <a:latin typeface="Calibri" panose="020F0502020204030204" pitchFamily="34" charset="0"/>
              </a:rPr>
              <a:t>High demand for Web Development</a:t>
            </a:r>
            <a:endParaRPr lang="en-US" sz="2400" dirty="0">
              <a:latin typeface="Calibri" panose="020F0502020204030204" pitchFamily="34" charset="0"/>
            </a:endParaRP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2252069" y="1865952"/>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7627678" y="1760206"/>
            <a:ext cx="1758142" cy="501939"/>
          </a:xfrm>
        </p:spPr>
        <p:txBody>
          <a:bodyPr/>
          <a:lstStyle/>
          <a:p>
            <a:pPr marL="0" indent="0">
              <a:buNone/>
            </a:pPr>
            <a:r>
              <a:rPr lang="en-US" dirty="0"/>
              <a:t>Next Year</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pic>
        <p:nvPicPr>
          <p:cNvPr id="7" name="object 5"/>
          <p:cNvPicPr/>
          <p:nvPr/>
        </p:nvPicPr>
        <p:blipFill>
          <a:blip r:embed="rId3" cstate="print"/>
          <a:stretch>
            <a:fillRect/>
          </a:stretch>
        </p:blipFill>
        <p:spPr>
          <a:xfrm>
            <a:off x="378372" y="2506661"/>
            <a:ext cx="5218386" cy="3531531"/>
          </a:xfrm>
          <a:prstGeom prst="rect">
            <a:avLst/>
          </a:prstGeom>
        </p:spPr>
      </p:pic>
      <p:pic>
        <p:nvPicPr>
          <p:cNvPr id="8" name="object 6"/>
          <p:cNvPicPr/>
          <p:nvPr/>
        </p:nvPicPr>
        <p:blipFill>
          <a:blip r:embed="rId4" cstate="print"/>
          <a:stretch>
            <a:fillRect/>
          </a:stretch>
        </p:blipFill>
        <p:spPr>
          <a:xfrm>
            <a:off x="6226350" y="2529078"/>
            <a:ext cx="4560799" cy="3269195"/>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646386" y="365125"/>
            <a:ext cx="11496628" cy="1325563"/>
          </a:xfrm>
        </p:spPr>
        <p:txBody>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pPr>
              <a:buFont typeface="Arial" panose="020B0604020202020204" pitchFamily="34" charset="0"/>
              <a:buChar char="•"/>
            </a:pPr>
            <a:r>
              <a:rPr lang="en-US" sz="2400" dirty="0">
                <a:latin typeface="Calibri" panose="020F0502020204030204" pitchFamily="34" charset="0"/>
              </a:rPr>
              <a:t>Demand increase: PostgreSQL - MongoDB </a:t>
            </a:r>
            <a:endParaRPr lang="en-US" sz="2400" dirty="0" smtClean="0">
              <a:latin typeface="Calibri" panose="020F0502020204030204" pitchFamily="34" charset="0"/>
            </a:endParaRPr>
          </a:p>
          <a:p>
            <a:pPr>
              <a:buFont typeface="Arial" panose="020B0604020202020204" pitchFamily="34" charset="0"/>
              <a:buChar char="•"/>
            </a:pPr>
            <a:r>
              <a:rPr lang="en-US" sz="2400" dirty="0" smtClean="0">
                <a:latin typeface="Calibri" panose="020F0502020204030204" pitchFamily="34" charset="0"/>
              </a:rPr>
              <a:t>Demand </a:t>
            </a:r>
            <a:r>
              <a:rPr lang="en-US" sz="2400" dirty="0">
                <a:latin typeface="Calibri" panose="020F0502020204030204" pitchFamily="34" charset="0"/>
              </a:rPr>
              <a:t>decrease: MySQL </a:t>
            </a:r>
            <a:endParaRPr lang="en-US" sz="2400" dirty="0" smtClean="0">
              <a:latin typeface="Calibri" panose="020F0502020204030204" pitchFamily="34" charset="0"/>
            </a:endParaRPr>
          </a:p>
          <a:p>
            <a:pPr>
              <a:buFont typeface="Arial" panose="020B0604020202020204" pitchFamily="34" charset="0"/>
              <a:buChar char="•"/>
            </a:pPr>
            <a:r>
              <a:rPr lang="en-US" sz="2400" dirty="0" smtClean="0">
                <a:latin typeface="Calibri" panose="020F0502020204030204" pitchFamily="34" charset="0"/>
              </a:rPr>
              <a:t>Desire </a:t>
            </a:r>
            <a:r>
              <a:rPr lang="en-US" sz="2400" dirty="0">
                <a:latin typeface="Calibri" panose="020F0502020204030204" pitchFamily="34" charset="0"/>
              </a:rPr>
              <a:t>increase: </a:t>
            </a:r>
            <a:r>
              <a:rPr lang="en-US" sz="2400" dirty="0" err="1">
                <a:latin typeface="Calibri" panose="020F0502020204030204" pitchFamily="34" charset="0"/>
              </a:rPr>
              <a:t>Redis</a:t>
            </a:r>
            <a:r>
              <a:rPr lang="en-US" sz="2400" dirty="0">
                <a:latin typeface="Calibri" panose="020F0502020204030204" pitchFamily="34" charset="0"/>
              </a:rPr>
              <a:t> - </a:t>
            </a:r>
            <a:r>
              <a:rPr lang="en-US" sz="2400" dirty="0" err="1">
                <a:latin typeface="Calibri" panose="020F0502020204030204" pitchFamily="34" charset="0"/>
              </a:rPr>
              <a:t>ElasticSearch</a:t>
            </a:r>
            <a:endParaRPr lang="en-US" sz="2400" dirty="0">
              <a:latin typeface="Calibri" panose="020F0502020204030204" pitchFamily="34" charset="0"/>
            </a:endParaRP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sz="2400" dirty="0" smtClean="0">
                <a:latin typeface="Calibri" panose="020F0502020204030204" pitchFamily="34" charset="0"/>
              </a:rPr>
              <a:t>Demand consistency: PostgreSQL - MongoDB </a:t>
            </a:r>
          </a:p>
          <a:p>
            <a:r>
              <a:rPr lang="en-US" sz="2400" dirty="0" smtClean="0">
                <a:latin typeface="Calibri" panose="020F0502020204030204" pitchFamily="34" charset="0"/>
              </a:rPr>
              <a:t>Preferred databases: Open Source</a:t>
            </a:r>
            <a:endParaRPr lang="en-US" sz="2400" dirty="0">
              <a:latin typeface="Calibri" panose="020F0502020204030204" pitchFamily="34" charset="0"/>
            </a:endParaRP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dirty="0"/>
              <a:t>DASHBOARD </a:t>
            </a:r>
            <a:r>
              <a:rPr lang="en-US" dirty="0" smtClean="0"/>
              <a:t>TAB.1 </a:t>
            </a:r>
            <a:r>
              <a:rPr lang="en-US" dirty="0"/>
              <a:t>Current Technology Usage</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4" name="object 2"/>
          <p:cNvPicPr/>
          <p:nvPr/>
        </p:nvPicPr>
        <p:blipFill>
          <a:blip r:embed="rId3" cstate="print"/>
          <a:stretch>
            <a:fillRect/>
          </a:stretch>
        </p:blipFill>
        <p:spPr>
          <a:xfrm>
            <a:off x="1718310" y="1513490"/>
            <a:ext cx="8749993" cy="4839302"/>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dirty="0"/>
              <a:t>DASHBOARD </a:t>
            </a:r>
            <a:r>
              <a:rPr lang="en-US" dirty="0" smtClean="0"/>
              <a:t>TAB.2 </a:t>
            </a:r>
            <a:r>
              <a:rPr lang="en-US" dirty="0"/>
              <a:t>Future </a:t>
            </a:r>
            <a:r>
              <a:rPr lang="en-US" dirty="0"/>
              <a:t>Technology Trend</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4" name="object 2"/>
          <p:cNvPicPr/>
          <p:nvPr/>
        </p:nvPicPr>
        <p:blipFill>
          <a:blip r:embed="rId3" cstate="print"/>
          <a:stretch>
            <a:fillRect/>
          </a:stretch>
        </p:blipFill>
        <p:spPr>
          <a:xfrm>
            <a:off x="1709166" y="1513490"/>
            <a:ext cx="8863583" cy="4815060"/>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dirty="0"/>
              <a:t>DASHBOARD </a:t>
            </a:r>
            <a:r>
              <a:rPr lang="en-US" dirty="0" smtClean="0"/>
              <a:t>TAB.3 </a:t>
            </a:r>
            <a:r>
              <a:rPr lang="en-US" dirty="0"/>
              <a:t>Demographics</a:t>
            </a:r>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p:txBody>
      </p:sp>
      <p:grpSp>
        <p:nvGrpSpPr>
          <p:cNvPr id="4" name="object 2"/>
          <p:cNvGrpSpPr/>
          <p:nvPr/>
        </p:nvGrpSpPr>
        <p:grpSpPr>
          <a:xfrm>
            <a:off x="891539" y="1387366"/>
            <a:ext cx="10521950" cy="4966137"/>
            <a:chOff x="891539" y="1063752"/>
            <a:chExt cx="10521950" cy="5046345"/>
          </a:xfrm>
        </p:grpSpPr>
        <p:sp>
          <p:nvSpPr>
            <p:cNvPr id="5" name="object 3"/>
            <p:cNvSpPr/>
            <p:nvPr/>
          </p:nvSpPr>
          <p:spPr>
            <a:xfrm>
              <a:off x="894587" y="1066800"/>
              <a:ext cx="10515600" cy="635"/>
            </a:xfrm>
            <a:custGeom>
              <a:avLst/>
              <a:gdLst/>
              <a:ahLst/>
              <a:cxnLst/>
              <a:rect l="l" t="t" r="r" b="b"/>
              <a:pathLst>
                <a:path w="10515600" h="634">
                  <a:moveTo>
                    <a:pt x="0" y="0"/>
                  </a:moveTo>
                  <a:lnTo>
                    <a:pt x="10515600" y="457"/>
                  </a:lnTo>
                </a:path>
              </a:pathLst>
            </a:custGeom>
            <a:ln w="6096">
              <a:solidFill>
                <a:srgbClr val="4470C4"/>
              </a:solidFill>
            </a:ln>
          </p:spPr>
          <p:txBody>
            <a:bodyPr wrap="square" lIns="0" tIns="0" rIns="0" bIns="0" rtlCol="0"/>
            <a:lstStyle/>
            <a:p>
              <a:endParaRPr/>
            </a:p>
          </p:txBody>
        </p:sp>
        <p:pic>
          <p:nvPicPr>
            <p:cNvPr id="6" name="object 4"/>
            <p:cNvPicPr/>
            <p:nvPr/>
          </p:nvPicPr>
          <p:blipFill>
            <a:blip r:embed="rId3" cstate="print"/>
            <a:stretch>
              <a:fillRect/>
            </a:stretch>
          </p:blipFill>
          <p:spPr>
            <a:xfrm>
              <a:off x="1764030" y="1101852"/>
              <a:ext cx="8932925" cy="5007863"/>
            </a:xfrm>
            <a:prstGeom prst="rect">
              <a:avLst/>
            </a:prstGeom>
          </p:spPr>
        </p:pic>
      </p:grpSp>
    </p:spTree>
    <p:custDataLst>
      <p:tags r:id="rId1"/>
    </p:custDataLst>
    <p:extLst>
      <p:ext uri="{BB962C8B-B14F-4D97-AF65-F5344CB8AC3E}">
        <p14:creationId xmlns:p14="http://schemas.microsoft.com/office/powerpoint/2010/main" val="2405636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838200" y="365125"/>
            <a:ext cx="10515600" cy="1325563"/>
          </a:xfrm>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685772" y="2062107"/>
            <a:ext cx="3676541" cy="367654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4824248" y="2191407"/>
            <a:ext cx="6858000" cy="3985556"/>
          </a:xfrm>
        </p:spPr>
        <p:txBody>
          <a:bodyPr>
            <a:normAutofit/>
          </a:bodyPr>
          <a:lstStyle/>
          <a:p>
            <a:pPr marL="0" marR="5080" indent="0">
              <a:lnSpc>
                <a:spcPct val="100000"/>
              </a:lnSpc>
              <a:spcBef>
                <a:spcPts val="100"/>
              </a:spcBef>
              <a:buClr>
                <a:schemeClr val="accent1">
                  <a:lumMod val="75000"/>
                </a:schemeClr>
              </a:buClr>
              <a:buSzPct val="108333"/>
              <a:buNone/>
              <a:tabLst>
                <a:tab pos="25400" algn="l"/>
                <a:tab pos="240029" algn="l"/>
              </a:tabLst>
            </a:pPr>
            <a:r>
              <a:rPr lang="en-US" sz="2400" i="1" dirty="0">
                <a:solidFill>
                  <a:schemeClr val="tx1"/>
                </a:solidFill>
                <a:latin typeface="Cambria"/>
                <a:cs typeface="Cambria"/>
              </a:rPr>
              <a:t>The insights and trends include the following    questions:</a:t>
            </a:r>
            <a:endParaRPr lang="en-US" sz="2400" dirty="0">
              <a:solidFill>
                <a:schemeClr val="tx1"/>
              </a:solidFill>
              <a:latin typeface="Cambria"/>
              <a:cs typeface="Cambria"/>
            </a:endParaRPr>
          </a:p>
          <a:p>
            <a:pPr marL="481966" marR="11430" indent="-457200">
              <a:lnSpc>
                <a:spcPct val="100000"/>
              </a:lnSpc>
              <a:buSzPct val="108333"/>
              <a:buFont typeface="Arial" panose="020B0604020202020204" pitchFamily="34" charset="0"/>
              <a:buChar char="•"/>
              <a:tabLst>
                <a:tab pos="253365" algn="l"/>
              </a:tabLst>
            </a:pPr>
            <a:r>
              <a:rPr lang="en-US" sz="2400" i="1" dirty="0">
                <a:solidFill>
                  <a:schemeClr val="tx1"/>
                </a:solidFill>
                <a:latin typeface="Cambria"/>
                <a:cs typeface="Cambria"/>
              </a:rPr>
              <a:t>What are the top programming languages </a:t>
            </a:r>
            <a:r>
              <a:rPr lang="en-US" sz="2400" i="1" dirty="0" smtClean="0">
                <a:solidFill>
                  <a:schemeClr val="tx1"/>
                </a:solidFill>
                <a:latin typeface="Cambria"/>
                <a:cs typeface="Cambria"/>
              </a:rPr>
              <a:t>in demand</a:t>
            </a:r>
            <a:r>
              <a:rPr lang="en-US" sz="2400" i="1" dirty="0">
                <a:solidFill>
                  <a:schemeClr val="tx1"/>
                </a:solidFill>
                <a:latin typeface="Cambria"/>
                <a:cs typeface="Cambria"/>
              </a:rPr>
              <a:t>?</a:t>
            </a:r>
            <a:endParaRPr lang="en-US" sz="2400" dirty="0">
              <a:solidFill>
                <a:schemeClr val="tx1"/>
              </a:solidFill>
              <a:latin typeface="Cambria"/>
              <a:cs typeface="Cambria"/>
            </a:endParaRPr>
          </a:p>
          <a:p>
            <a:pPr marL="482600" indent="-457200">
              <a:lnSpc>
                <a:spcPct val="100000"/>
              </a:lnSpc>
              <a:spcBef>
                <a:spcPts val="695"/>
              </a:spcBef>
              <a:buSzPct val="108333"/>
              <a:buFont typeface="Arial" panose="020B0604020202020204" pitchFamily="34" charset="0"/>
              <a:buChar char="•"/>
              <a:tabLst>
                <a:tab pos="252729" algn="l"/>
              </a:tabLst>
            </a:pPr>
            <a:r>
              <a:rPr lang="en-US" sz="2400" i="1" dirty="0">
                <a:solidFill>
                  <a:schemeClr val="tx1"/>
                </a:solidFill>
                <a:latin typeface="Cambria"/>
                <a:cs typeface="Cambria"/>
              </a:rPr>
              <a:t>What are the top databases in demand?</a:t>
            </a:r>
            <a:endParaRPr lang="en-US" sz="2400" dirty="0">
              <a:solidFill>
                <a:schemeClr val="tx1"/>
              </a:solidFill>
              <a:latin typeface="Cambria"/>
              <a:cs typeface="Cambria"/>
            </a:endParaRPr>
          </a:p>
          <a:p>
            <a:pPr marL="482600" marR="774700" indent="-457200">
              <a:lnSpc>
                <a:spcPct val="111100"/>
              </a:lnSpc>
              <a:spcBef>
                <a:spcPts val="795"/>
              </a:spcBef>
              <a:buSzPct val="108333"/>
              <a:buFont typeface="Arial" panose="020B0604020202020204" pitchFamily="34" charset="0"/>
              <a:buChar char="•"/>
              <a:tabLst>
                <a:tab pos="254000" algn="l"/>
              </a:tabLst>
            </a:pPr>
            <a:r>
              <a:rPr lang="en-US" sz="2400" i="1" dirty="0">
                <a:solidFill>
                  <a:schemeClr val="tx1"/>
                </a:solidFill>
                <a:latin typeface="Cambria"/>
                <a:cs typeface="Cambria"/>
              </a:rPr>
              <a:t>What are the most popular developers technologies, web frames, platforms?</a:t>
            </a:r>
            <a:endParaRPr lang="en-US" sz="2400" dirty="0">
              <a:solidFill>
                <a:schemeClr val="tx1"/>
              </a:solidFill>
              <a:latin typeface="Cambria"/>
              <a:cs typeface="Cambria"/>
            </a:endParaRPr>
          </a:p>
          <a:p>
            <a:endParaRPr lang="en-US"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325563"/>
          </a:xfrm>
        </p:spPr>
        <p:txBody>
          <a:bodyPr>
            <a:normAutofit/>
          </a:bodyPr>
          <a:lstStyle/>
          <a:p>
            <a:r>
              <a:rPr lang="en-US" sz="2800" dirty="0" smtClean="0"/>
              <a:t>FINDINGS </a:t>
            </a:r>
            <a:r>
              <a:rPr lang="en-US" sz="2800" dirty="0"/>
              <a:t>&amp;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r>
              <a:rPr lang="en-US" sz="2400" dirty="0">
                <a:latin typeface="Calibri" panose="020F0502020204030204" pitchFamily="34" charset="0"/>
              </a:rPr>
              <a:t>Demands and trends can vary based on new technologies. </a:t>
            </a:r>
            <a:endParaRPr lang="en-US" sz="2400" dirty="0" smtClean="0">
              <a:latin typeface="Calibri" panose="020F0502020204030204" pitchFamily="34" charset="0"/>
            </a:endParaRPr>
          </a:p>
          <a:p>
            <a:r>
              <a:rPr lang="en-US" sz="2400" dirty="0" smtClean="0">
                <a:latin typeface="Calibri" panose="020F0502020204030204" pitchFamily="34" charset="0"/>
              </a:rPr>
              <a:t>Popular </a:t>
            </a:r>
            <a:r>
              <a:rPr lang="en-US" sz="2400" dirty="0">
                <a:latin typeface="Calibri" panose="020F0502020204030204" pitchFamily="34" charset="0"/>
              </a:rPr>
              <a:t>Languages: JavaScript - Python </a:t>
            </a:r>
            <a:endParaRPr lang="en-US" sz="2400" dirty="0" smtClean="0">
              <a:latin typeface="Calibri" panose="020F0502020204030204" pitchFamily="34" charset="0"/>
            </a:endParaRPr>
          </a:p>
          <a:p>
            <a:r>
              <a:rPr lang="en-US" sz="2400" dirty="0" smtClean="0">
                <a:latin typeface="Calibri" panose="020F0502020204030204" pitchFamily="34" charset="0"/>
              </a:rPr>
              <a:t>Popular </a:t>
            </a:r>
            <a:r>
              <a:rPr lang="en-US" sz="2400" dirty="0">
                <a:latin typeface="Calibri" panose="020F0502020204030204" pitchFamily="34" charset="0"/>
              </a:rPr>
              <a:t>Databases: PostgreSQL</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sz="2400" dirty="0">
                <a:latin typeface="Calibri" panose="020F0502020204030204" pitchFamily="34" charset="0"/>
              </a:rPr>
              <a:t>Companies and individuals need to adapt the new demands. </a:t>
            </a:r>
            <a:endParaRPr lang="en-US" sz="2400" dirty="0" smtClean="0">
              <a:latin typeface="Calibri" panose="020F0502020204030204" pitchFamily="34" charset="0"/>
            </a:endParaRPr>
          </a:p>
          <a:p>
            <a:r>
              <a:rPr lang="en-US" sz="2400" dirty="0" smtClean="0">
                <a:latin typeface="Calibri" panose="020F0502020204030204" pitchFamily="34" charset="0"/>
              </a:rPr>
              <a:t>Proficiency </a:t>
            </a:r>
            <a:r>
              <a:rPr lang="en-US" sz="2400" dirty="0">
                <a:latin typeface="Calibri" panose="020F0502020204030204" pitchFamily="34" charset="0"/>
              </a:rPr>
              <a:t>in higher demand skills can lead to more opportunities.</a:t>
            </a:r>
          </a:p>
        </p:txBody>
      </p:sp>
    </p:spTree>
    <p:custDataLst>
      <p:tags r:id="rId1"/>
    </p:custDataLst>
    <p:extLst>
      <p:ext uri="{BB962C8B-B14F-4D97-AF65-F5344CB8AC3E}">
        <p14:creationId xmlns:p14="http://schemas.microsoft.com/office/powerpoint/2010/main" val="3839079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2113895"/>
            <a:ext cx="6809509" cy="40630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smtClean="0">
                <a:latin typeface="Calibri" panose="020F0502020204030204" pitchFamily="34" charset="0"/>
              </a:rPr>
              <a:t>New </a:t>
            </a:r>
            <a:r>
              <a:rPr lang="en-US" dirty="0">
                <a:latin typeface="Calibri" panose="020F0502020204030204" pitchFamily="34" charset="0"/>
              </a:rPr>
              <a:t>technologies lead to varied trends and demands. </a:t>
            </a:r>
            <a:endParaRPr lang="en-US" dirty="0" smtClean="0">
              <a:latin typeface="Calibri" panose="020F0502020204030204" pitchFamily="34" charset="0"/>
            </a:endParaRPr>
          </a:p>
          <a:p>
            <a:r>
              <a:rPr lang="en-US" dirty="0" smtClean="0">
                <a:latin typeface="Calibri" panose="020F0502020204030204" pitchFamily="34" charset="0"/>
              </a:rPr>
              <a:t>Most </a:t>
            </a:r>
            <a:r>
              <a:rPr lang="en-US" dirty="0">
                <a:latin typeface="Calibri" panose="020F0502020204030204" pitchFamily="34" charset="0"/>
              </a:rPr>
              <a:t>popular programming Languages: JavaScript - Python </a:t>
            </a:r>
            <a:endParaRPr lang="en-US" dirty="0" smtClean="0">
              <a:latin typeface="Calibri" panose="020F0502020204030204" pitchFamily="34" charset="0"/>
            </a:endParaRPr>
          </a:p>
          <a:p>
            <a:r>
              <a:rPr lang="en-US" dirty="0" smtClean="0">
                <a:latin typeface="Calibri" panose="020F0502020204030204" pitchFamily="34" charset="0"/>
              </a:rPr>
              <a:t>Most </a:t>
            </a:r>
            <a:r>
              <a:rPr lang="en-US" dirty="0">
                <a:latin typeface="Calibri" panose="020F0502020204030204" pitchFamily="34" charset="0"/>
              </a:rPr>
              <a:t>popular database: PostgreSQL </a:t>
            </a:r>
            <a:endParaRPr lang="en-US" dirty="0" smtClean="0">
              <a:latin typeface="Calibri" panose="020F0502020204030204" pitchFamily="34" charset="0"/>
            </a:endParaRPr>
          </a:p>
          <a:p>
            <a:r>
              <a:rPr lang="en-US" dirty="0" smtClean="0">
                <a:latin typeface="Calibri" panose="020F0502020204030204" pitchFamily="34" charset="0"/>
              </a:rPr>
              <a:t>The </a:t>
            </a:r>
            <a:r>
              <a:rPr lang="en-US" dirty="0">
                <a:latin typeface="Calibri" panose="020F0502020204030204" pitchFamily="34" charset="0"/>
              </a:rPr>
              <a:t>Information Technology field needs diversity.</a:t>
            </a:r>
          </a:p>
          <a:p>
            <a:endParaRPr lang="en-US" dirty="0"/>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8403782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113</TotalTime>
  <Words>803</Words>
  <Application>Microsoft Office PowerPoint</Application>
  <PresentationFormat>Широкоэкранный</PresentationFormat>
  <Paragraphs>98</Paragraphs>
  <Slides>16</Slides>
  <Notes>1</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16</vt:i4>
      </vt:variant>
    </vt:vector>
  </HeadingPairs>
  <TitlesOfParts>
    <vt:vector size="27" baseType="lpstr">
      <vt:lpstr>Arial</vt:lpstr>
      <vt:lpstr>Arial MT</vt:lpstr>
      <vt:lpstr>Calibri</vt:lpstr>
      <vt:lpstr>Cambria</vt:lpstr>
      <vt:lpstr>Helv</vt:lpstr>
      <vt:lpstr>IBM Plex Mono</vt:lpstr>
      <vt:lpstr>IBM Plex Mono Text</vt:lpstr>
      <vt:lpstr>IBM Plex Sans</vt:lpstr>
      <vt:lpstr>IBM Plex Sans SemiBold</vt:lpstr>
      <vt:lpstr>Wingdings</vt:lpstr>
      <vt:lpstr>SLIDE_TEMPLATE_skill_network</vt:lpstr>
      <vt:lpstr>Data Analyst Capstone Project</vt:lpstr>
      <vt:lpstr>Презентация PowerPoint</vt:lpstr>
      <vt:lpstr>EXECUTIVE SUMMARY</vt:lpstr>
      <vt:lpstr>INTRODUCTION</vt:lpstr>
      <vt:lpstr>METHODOLOGY</vt:lpstr>
      <vt:lpstr>RESULTS</vt:lpstr>
      <vt:lpstr>PROGRAMMING LANGUAGE TRENDS</vt:lpstr>
      <vt:lpstr>PROGRAMMING LANGUAGE TRENDS - FINDINGS &amp; IMPLICATIONS</vt:lpstr>
      <vt:lpstr>DATABASE TRENDS</vt:lpstr>
      <vt:lpstr>DATABASE TRENDS - FINDINGS &amp; IMPLICATIONS</vt:lpstr>
      <vt:lpstr>DASHBOARD TAB.1 Current Technology Usage</vt:lpstr>
      <vt:lpstr>DASHBOARD TAB.2 Future Technology Trend</vt:lpstr>
      <vt:lpstr>DASHBOARD TAB.3 Demographics</vt:lpstr>
      <vt:lpstr>DISCUSSION</vt:lpstr>
      <vt:lpstr>FINDINGS &amp; IMPLICATIONS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Analyst Capstone Project</dc:title>
  <dc:creator>Tori Sleeper</dc:creator>
  <cp:lastModifiedBy>Lubov</cp:lastModifiedBy>
  <cp:revision>21</cp:revision>
  <dcterms:created xsi:type="dcterms:W3CDTF">2024-10-30T05:40:03Z</dcterms:created>
  <dcterms:modified xsi:type="dcterms:W3CDTF">2025-06-23T12:49:25Z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